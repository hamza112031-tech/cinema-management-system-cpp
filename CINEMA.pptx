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moresa" charset="0"/>
      <p:regular r:id="rId10"/>
    </p:embeddedFont>
    <p:embeddedFont>
      <p:font typeface="Moontime" panose="020B0604020202020204" charset="0"/>
      <p:regular r:id="rId11"/>
    </p:embeddedFont>
    <p:embeddedFont>
      <p:font typeface="Rosario" panose="020B0604020202020204" charset="0"/>
      <p:regular r:id="rId12"/>
    </p:embeddedFont>
    <p:embeddedFont>
      <p:font typeface="Rosari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7290">
            <a:off x="-1567890" y="-684103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0" y="0"/>
                </a:moveTo>
                <a:lnTo>
                  <a:pt x="5157429" y="0"/>
                </a:lnTo>
                <a:lnTo>
                  <a:pt x="5157429" y="5827603"/>
                </a:lnTo>
                <a:lnTo>
                  <a:pt x="0" y="582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4065">
            <a:off x="725825" y="4503212"/>
            <a:ext cx="2910405" cy="4601430"/>
          </a:xfrm>
          <a:custGeom>
            <a:avLst/>
            <a:gdLst/>
            <a:ahLst/>
            <a:cxnLst/>
            <a:rect l="l" t="t" r="r" b="b"/>
            <a:pathLst>
              <a:path w="2910405" h="4601430">
                <a:moveTo>
                  <a:pt x="0" y="0"/>
                </a:moveTo>
                <a:lnTo>
                  <a:pt x="2910405" y="0"/>
                </a:lnTo>
                <a:lnTo>
                  <a:pt x="2910405" y="4601430"/>
                </a:lnTo>
                <a:lnTo>
                  <a:pt x="0" y="460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862901" y="4287613"/>
            <a:ext cx="5930321" cy="4970687"/>
          </a:xfrm>
          <a:custGeom>
            <a:avLst/>
            <a:gdLst/>
            <a:ahLst/>
            <a:cxnLst/>
            <a:rect l="l" t="t" r="r" b="b"/>
            <a:pathLst>
              <a:path w="5930321" h="4970687">
                <a:moveTo>
                  <a:pt x="0" y="0"/>
                </a:moveTo>
                <a:lnTo>
                  <a:pt x="5930322" y="0"/>
                </a:lnTo>
                <a:lnTo>
                  <a:pt x="5930322" y="4970687"/>
                </a:lnTo>
                <a:lnTo>
                  <a:pt x="0" y="4970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1696389" flipH="1">
            <a:off x="14562941" y="-676248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5157428" y="0"/>
                </a:moveTo>
                <a:lnTo>
                  <a:pt x="0" y="0"/>
                </a:lnTo>
                <a:lnTo>
                  <a:pt x="0" y="5827603"/>
                </a:lnTo>
                <a:lnTo>
                  <a:pt x="5157428" y="5827603"/>
                </a:lnTo>
                <a:lnTo>
                  <a:pt x="515742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1171390">
            <a:off x="2871744" y="7423072"/>
            <a:ext cx="2129484" cy="1835228"/>
          </a:xfrm>
          <a:custGeom>
            <a:avLst/>
            <a:gdLst/>
            <a:ahLst/>
            <a:cxnLst/>
            <a:rect l="l" t="t" r="r" b="b"/>
            <a:pathLst>
              <a:path w="2129484" h="1835228">
                <a:moveTo>
                  <a:pt x="0" y="0"/>
                </a:moveTo>
                <a:lnTo>
                  <a:pt x="2129484" y="0"/>
                </a:lnTo>
                <a:lnTo>
                  <a:pt x="2129484" y="1835228"/>
                </a:lnTo>
                <a:lnTo>
                  <a:pt x="0" y="1835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348899" y="3211231"/>
            <a:ext cx="9437803" cy="2680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2"/>
              </a:lnSpc>
            </a:pPr>
            <a:r>
              <a:rPr lang="en-US" sz="9256">
                <a:solidFill>
                  <a:srgbClr val="FFFFFF"/>
                </a:solidFill>
                <a:latin typeface="Moontime"/>
                <a:ea typeface="Moontime"/>
                <a:cs typeface="Moontime"/>
                <a:sym typeface="Moontime"/>
              </a:rPr>
              <a:t>CINEMA MANGEMENT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01299" y="6386190"/>
            <a:ext cx="9285403" cy="86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1"/>
              </a:lnSpc>
            </a:pPr>
            <a:r>
              <a:rPr lang="en-US" sz="5887">
                <a:solidFill>
                  <a:srgbClr val="C5E5DE"/>
                </a:solidFill>
                <a:latin typeface="Rosario"/>
                <a:ea typeface="Rosario"/>
                <a:cs typeface="Rosario"/>
                <a:sym typeface="Rosario"/>
              </a:rPr>
              <a:t>Team 35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7018" y="2688295"/>
            <a:ext cx="10913212" cy="6173129"/>
            <a:chOff x="0" y="0"/>
            <a:chExt cx="2874261" cy="16258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4261" cy="1625845"/>
            </a:xfrm>
            <a:custGeom>
              <a:avLst/>
              <a:gdLst/>
              <a:ahLst/>
              <a:cxnLst/>
              <a:rect l="l" t="t" r="r" b="b"/>
              <a:pathLst>
                <a:path w="2874261" h="1625845">
                  <a:moveTo>
                    <a:pt x="36180" y="0"/>
                  </a:moveTo>
                  <a:lnTo>
                    <a:pt x="2838082" y="0"/>
                  </a:lnTo>
                  <a:cubicBezTo>
                    <a:pt x="2847677" y="0"/>
                    <a:pt x="2856879" y="3812"/>
                    <a:pt x="2863665" y="10597"/>
                  </a:cubicBezTo>
                  <a:cubicBezTo>
                    <a:pt x="2870450" y="17382"/>
                    <a:pt x="2874261" y="26584"/>
                    <a:pt x="2874261" y="36180"/>
                  </a:cubicBezTo>
                  <a:lnTo>
                    <a:pt x="2874261" y="1589665"/>
                  </a:lnTo>
                  <a:cubicBezTo>
                    <a:pt x="2874261" y="1599260"/>
                    <a:pt x="2870450" y="1608463"/>
                    <a:pt x="2863665" y="1615248"/>
                  </a:cubicBezTo>
                  <a:cubicBezTo>
                    <a:pt x="2856879" y="1622033"/>
                    <a:pt x="2847677" y="1625845"/>
                    <a:pt x="2838082" y="1625845"/>
                  </a:cubicBezTo>
                  <a:lnTo>
                    <a:pt x="36180" y="1625845"/>
                  </a:lnTo>
                  <a:cubicBezTo>
                    <a:pt x="26584" y="1625845"/>
                    <a:pt x="17382" y="1622033"/>
                    <a:pt x="10597" y="1615248"/>
                  </a:cubicBezTo>
                  <a:cubicBezTo>
                    <a:pt x="3812" y="1608463"/>
                    <a:pt x="0" y="1599260"/>
                    <a:pt x="0" y="1589665"/>
                  </a:cubicBezTo>
                  <a:lnTo>
                    <a:pt x="0" y="36180"/>
                  </a:lnTo>
                  <a:cubicBezTo>
                    <a:pt x="0" y="26584"/>
                    <a:pt x="3812" y="17382"/>
                    <a:pt x="10597" y="10597"/>
                  </a:cubicBezTo>
                  <a:cubicBezTo>
                    <a:pt x="17382" y="3812"/>
                    <a:pt x="26584" y="0"/>
                    <a:pt x="361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74261" cy="167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38166" y="4573360"/>
            <a:ext cx="3038852" cy="4480880"/>
          </a:xfrm>
          <a:custGeom>
            <a:avLst/>
            <a:gdLst/>
            <a:ahLst/>
            <a:cxnLst/>
            <a:rect l="l" t="t" r="r" b="b"/>
            <a:pathLst>
              <a:path w="3038852" h="4480880">
                <a:moveTo>
                  <a:pt x="0" y="0"/>
                </a:moveTo>
                <a:lnTo>
                  <a:pt x="3038852" y="0"/>
                </a:lnTo>
                <a:lnTo>
                  <a:pt x="3038852" y="4480881"/>
                </a:lnTo>
                <a:lnTo>
                  <a:pt x="0" y="448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1171390">
            <a:off x="2138805" y="7166399"/>
            <a:ext cx="2477511" cy="2135164"/>
          </a:xfrm>
          <a:custGeom>
            <a:avLst/>
            <a:gdLst/>
            <a:ahLst/>
            <a:cxnLst/>
            <a:rect l="l" t="t" r="r" b="b"/>
            <a:pathLst>
              <a:path w="2477511" h="2135164">
                <a:moveTo>
                  <a:pt x="0" y="0"/>
                </a:moveTo>
                <a:lnTo>
                  <a:pt x="2477512" y="0"/>
                </a:lnTo>
                <a:lnTo>
                  <a:pt x="2477512" y="2135164"/>
                </a:lnTo>
                <a:lnTo>
                  <a:pt x="0" y="213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401800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H="1">
            <a:off x="-337782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476230" y="1556955"/>
            <a:ext cx="7335540" cy="113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2"/>
              </a:lnSpc>
            </a:pPr>
            <a:r>
              <a:rPr lang="en-US" sz="7703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Our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6743" y="3752527"/>
            <a:ext cx="5934514" cy="8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4808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Alshimaa Hesham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21698" y="4834028"/>
            <a:ext cx="5244604" cy="8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4808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Haneen Elsherief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62095" y="5992967"/>
            <a:ext cx="5563810" cy="8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4808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Shahed Ahmed </a:t>
            </a:r>
          </a:p>
        </p:txBody>
      </p:sp>
      <p:sp>
        <p:nvSpPr>
          <p:cNvPr id="16" name="Freeform 16"/>
          <p:cNvSpPr/>
          <p:nvPr/>
        </p:nvSpPr>
        <p:spPr>
          <a:xfrm rot="-844885">
            <a:off x="14028541" y="5633750"/>
            <a:ext cx="3223408" cy="3357717"/>
          </a:xfrm>
          <a:custGeom>
            <a:avLst/>
            <a:gdLst/>
            <a:ahLst/>
            <a:cxnLst/>
            <a:rect l="l" t="t" r="r" b="b"/>
            <a:pathLst>
              <a:path w="3223408" h="3357717">
                <a:moveTo>
                  <a:pt x="0" y="0"/>
                </a:moveTo>
                <a:lnTo>
                  <a:pt x="3223408" y="0"/>
                </a:lnTo>
                <a:lnTo>
                  <a:pt x="3223408" y="3357717"/>
                </a:lnTo>
                <a:lnTo>
                  <a:pt x="0" y="335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6362095" y="7217358"/>
            <a:ext cx="5563810" cy="8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4808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Hamza Mohammed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7018" y="2688295"/>
            <a:ext cx="10913212" cy="6173129"/>
            <a:chOff x="0" y="0"/>
            <a:chExt cx="2874261" cy="16258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4261" cy="1625845"/>
            </a:xfrm>
            <a:custGeom>
              <a:avLst/>
              <a:gdLst/>
              <a:ahLst/>
              <a:cxnLst/>
              <a:rect l="l" t="t" r="r" b="b"/>
              <a:pathLst>
                <a:path w="2874261" h="1625845">
                  <a:moveTo>
                    <a:pt x="36180" y="0"/>
                  </a:moveTo>
                  <a:lnTo>
                    <a:pt x="2838082" y="0"/>
                  </a:lnTo>
                  <a:cubicBezTo>
                    <a:pt x="2847677" y="0"/>
                    <a:pt x="2856879" y="3812"/>
                    <a:pt x="2863665" y="10597"/>
                  </a:cubicBezTo>
                  <a:cubicBezTo>
                    <a:pt x="2870450" y="17382"/>
                    <a:pt x="2874261" y="26584"/>
                    <a:pt x="2874261" y="36180"/>
                  </a:cubicBezTo>
                  <a:lnTo>
                    <a:pt x="2874261" y="1589665"/>
                  </a:lnTo>
                  <a:cubicBezTo>
                    <a:pt x="2874261" y="1599260"/>
                    <a:pt x="2870450" y="1608463"/>
                    <a:pt x="2863665" y="1615248"/>
                  </a:cubicBezTo>
                  <a:cubicBezTo>
                    <a:pt x="2856879" y="1622033"/>
                    <a:pt x="2847677" y="1625845"/>
                    <a:pt x="2838082" y="1625845"/>
                  </a:cubicBezTo>
                  <a:lnTo>
                    <a:pt x="36180" y="1625845"/>
                  </a:lnTo>
                  <a:cubicBezTo>
                    <a:pt x="26584" y="1625845"/>
                    <a:pt x="17382" y="1622033"/>
                    <a:pt x="10597" y="1615248"/>
                  </a:cubicBezTo>
                  <a:cubicBezTo>
                    <a:pt x="3812" y="1608463"/>
                    <a:pt x="0" y="1599260"/>
                    <a:pt x="0" y="1589665"/>
                  </a:cubicBezTo>
                  <a:lnTo>
                    <a:pt x="0" y="36180"/>
                  </a:lnTo>
                  <a:cubicBezTo>
                    <a:pt x="0" y="26584"/>
                    <a:pt x="3812" y="17382"/>
                    <a:pt x="10597" y="10597"/>
                  </a:cubicBezTo>
                  <a:cubicBezTo>
                    <a:pt x="17382" y="3812"/>
                    <a:pt x="26584" y="0"/>
                    <a:pt x="361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74261" cy="167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38166" y="4573360"/>
            <a:ext cx="3038852" cy="4480880"/>
          </a:xfrm>
          <a:custGeom>
            <a:avLst/>
            <a:gdLst/>
            <a:ahLst/>
            <a:cxnLst/>
            <a:rect l="l" t="t" r="r" b="b"/>
            <a:pathLst>
              <a:path w="3038852" h="4480880">
                <a:moveTo>
                  <a:pt x="0" y="0"/>
                </a:moveTo>
                <a:lnTo>
                  <a:pt x="3038852" y="0"/>
                </a:lnTo>
                <a:lnTo>
                  <a:pt x="3038852" y="4480881"/>
                </a:lnTo>
                <a:lnTo>
                  <a:pt x="0" y="448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1171390">
            <a:off x="2138805" y="7166399"/>
            <a:ext cx="2477511" cy="2135164"/>
          </a:xfrm>
          <a:custGeom>
            <a:avLst/>
            <a:gdLst/>
            <a:ahLst/>
            <a:cxnLst/>
            <a:rect l="l" t="t" r="r" b="b"/>
            <a:pathLst>
              <a:path w="2477511" h="2135164">
                <a:moveTo>
                  <a:pt x="0" y="0"/>
                </a:moveTo>
                <a:lnTo>
                  <a:pt x="2477512" y="0"/>
                </a:lnTo>
                <a:lnTo>
                  <a:pt x="2477512" y="2135164"/>
                </a:lnTo>
                <a:lnTo>
                  <a:pt x="0" y="213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401800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H="1">
            <a:off x="-337782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167527" y="1556955"/>
            <a:ext cx="7952946" cy="113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2"/>
              </a:lnSpc>
            </a:pPr>
            <a:r>
              <a:rPr lang="en-US" sz="7703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The 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78271" y="2889495"/>
            <a:ext cx="8731458" cy="572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8"/>
              </a:lnSpc>
            </a:pPr>
            <a:r>
              <a:rPr lang="en-US" sz="2305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Large cinemas with multiple theaters and different screenings daily often struggle with manually organizing and managing data, such as: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1) Managing the number of theaters, seats, and their types (VIP or standard).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2) Monitoring films, their showtimes, and ratings.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3) Calculating daily revenue and taxes.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4) Managing employee salaries and various job functions.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5) Managing additional services like restaurants and the children's area.</a:t>
            </a:r>
          </a:p>
          <a:p>
            <a:pPr algn="ctr">
              <a:lnSpc>
                <a:spcPts val="3228"/>
              </a:lnSpc>
            </a:pPr>
            <a:r>
              <a:rPr lang="en-US" sz="2305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Relying on traditional methods can lead to: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1) Financial errors.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2) Difficulty tracking reservations and theaters.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3) Overlapping film schedules.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4) Slow access to information.</a:t>
            </a:r>
          </a:p>
          <a:p>
            <a:pPr algn="ctr">
              <a:lnSpc>
                <a:spcPts val="3228"/>
              </a:lnSpc>
            </a:pPr>
            <a:r>
              <a:rPr lang="en-US" sz="23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5) Poor organization of services within the cinema.</a:t>
            </a:r>
          </a:p>
        </p:txBody>
      </p:sp>
      <p:sp>
        <p:nvSpPr>
          <p:cNvPr id="14" name="Freeform 14"/>
          <p:cNvSpPr/>
          <p:nvPr/>
        </p:nvSpPr>
        <p:spPr>
          <a:xfrm rot="-844885">
            <a:off x="14028541" y="5633750"/>
            <a:ext cx="3223408" cy="3357717"/>
          </a:xfrm>
          <a:custGeom>
            <a:avLst/>
            <a:gdLst/>
            <a:ahLst/>
            <a:cxnLst/>
            <a:rect l="l" t="t" r="r" b="b"/>
            <a:pathLst>
              <a:path w="3223408" h="3357717">
                <a:moveTo>
                  <a:pt x="0" y="0"/>
                </a:moveTo>
                <a:lnTo>
                  <a:pt x="3223408" y="0"/>
                </a:lnTo>
                <a:lnTo>
                  <a:pt x="3223408" y="3357717"/>
                </a:lnTo>
                <a:lnTo>
                  <a:pt x="0" y="335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7018" y="2688295"/>
            <a:ext cx="10913212" cy="6173129"/>
            <a:chOff x="0" y="0"/>
            <a:chExt cx="2874261" cy="16258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4261" cy="1625845"/>
            </a:xfrm>
            <a:custGeom>
              <a:avLst/>
              <a:gdLst/>
              <a:ahLst/>
              <a:cxnLst/>
              <a:rect l="l" t="t" r="r" b="b"/>
              <a:pathLst>
                <a:path w="2874261" h="1625845">
                  <a:moveTo>
                    <a:pt x="36180" y="0"/>
                  </a:moveTo>
                  <a:lnTo>
                    <a:pt x="2838082" y="0"/>
                  </a:lnTo>
                  <a:cubicBezTo>
                    <a:pt x="2847677" y="0"/>
                    <a:pt x="2856879" y="3812"/>
                    <a:pt x="2863665" y="10597"/>
                  </a:cubicBezTo>
                  <a:cubicBezTo>
                    <a:pt x="2870450" y="17382"/>
                    <a:pt x="2874261" y="26584"/>
                    <a:pt x="2874261" y="36180"/>
                  </a:cubicBezTo>
                  <a:lnTo>
                    <a:pt x="2874261" y="1589665"/>
                  </a:lnTo>
                  <a:cubicBezTo>
                    <a:pt x="2874261" y="1599260"/>
                    <a:pt x="2870450" y="1608463"/>
                    <a:pt x="2863665" y="1615248"/>
                  </a:cubicBezTo>
                  <a:cubicBezTo>
                    <a:pt x="2856879" y="1622033"/>
                    <a:pt x="2847677" y="1625845"/>
                    <a:pt x="2838082" y="1625845"/>
                  </a:cubicBezTo>
                  <a:lnTo>
                    <a:pt x="36180" y="1625845"/>
                  </a:lnTo>
                  <a:cubicBezTo>
                    <a:pt x="26584" y="1625845"/>
                    <a:pt x="17382" y="1622033"/>
                    <a:pt x="10597" y="1615248"/>
                  </a:cubicBezTo>
                  <a:cubicBezTo>
                    <a:pt x="3812" y="1608463"/>
                    <a:pt x="0" y="1599260"/>
                    <a:pt x="0" y="1589665"/>
                  </a:cubicBezTo>
                  <a:lnTo>
                    <a:pt x="0" y="36180"/>
                  </a:lnTo>
                  <a:cubicBezTo>
                    <a:pt x="0" y="26584"/>
                    <a:pt x="3812" y="17382"/>
                    <a:pt x="10597" y="10597"/>
                  </a:cubicBezTo>
                  <a:cubicBezTo>
                    <a:pt x="17382" y="3812"/>
                    <a:pt x="26584" y="0"/>
                    <a:pt x="3618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74261" cy="167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38166" y="4573360"/>
            <a:ext cx="3038852" cy="4480880"/>
          </a:xfrm>
          <a:custGeom>
            <a:avLst/>
            <a:gdLst/>
            <a:ahLst/>
            <a:cxnLst/>
            <a:rect l="l" t="t" r="r" b="b"/>
            <a:pathLst>
              <a:path w="3038852" h="4480880">
                <a:moveTo>
                  <a:pt x="0" y="0"/>
                </a:moveTo>
                <a:lnTo>
                  <a:pt x="3038852" y="0"/>
                </a:lnTo>
                <a:lnTo>
                  <a:pt x="3038852" y="4480881"/>
                </a:lnTo>
                <a:lnTo>
                  <a:pt x="0" y="448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1171390">
            <a:off x="2138805" y="7166399"/>
            <a:ext cx="2477511" cy="2135164"/>
          </a:xfrm>
          <a:custGeom>
            <a:avLst/>
            <a:gdLst/>
            <a:ahLst/>
            <a:cxnLst/>
            <a:rect l="l" t="t" r="r" b="b"/>
            <a:pathLst>
              <a:path w="2477511" h="2135164">
                <a:moveTo>
                  <a:pt x="0" y="0"/>
                </a:moveTo>
                <a:lnTo>
                  <a:pt x="2477512" y="0"/>
                </a:lnTo>
                <a:lnTo>
                  <a:pt x="2477512" y="2135164"/>
                </a:lnTo>
                <a:lnTo>
                  <a:pt x="0" y="213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401800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H="1">
            <a:off x="-337782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167527" y="1556955"/>
            <a:ext cx="7952946" cy="113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2"/>
              </a:lnSpc>
            </a:pPr>
            <a:r>
              <a:rPr lang="en-US" sz="7703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The 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78271" y="3673574"/>
            <a:ext cx="8731458" cy="363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The system aims to create an integrated ‘cinema management system’ that will help with:</a:t>
            </a:r>
          </a:p>
          <a:p>
            <a:pPr algn="ctr">
              <a:lnSpc>
                <a:spcPts val="3648"/>
              </a:lnSpc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1) Organizing auditoriums and seating.</a:t>
            </a:r>
          </a:p>
          <a:p>
            <a:pPr algn="ctr">
              <a:lnSpc>
                <a:spcPts val="3648"/>
              </a:lnSpc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2) Easily managing films and screenings.</a:t>
            </a:r>
          </a:p>
          <a:p>
            <a:pPr algn="ctr">
              <a:lnSpc>
                <a:spcPts val="3648"/>
              </a:lnSpc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3) Automatically calculating profits and taxes.</a:t>
            </a:r>
          </a:p>
          <a:p>
            <a:pPr algn="ctr">
              <a:lnSpc>
                <a:spcPts val="3648"/>
              </a:lnSpc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4) Managing staff and payroll.</a:t>
            </a:r>
          </a:p>
          <a:p>
            <a:pPr algn="ctr">
              <a:lnSpc>
                <a:spcPts val="3648"/>
              </a:lnSpc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5) Enhancing the customer experience through additional services such as VR, a children's area, and restaurants.</a:t>
            </a:r>
          </a:p>
        </p:txBody>
      </p:sp>
      <p:sp>
        <p:nvSpPr>
          <p:cNvPr id="14" name="Freeform 14"/>
          <p:cNvSpPr/>
          <p:nvPr/>
        </p:nvSpPr>
        <p:spPr>
          <a:xfrm rot="-844885">
            <a:off x="14028541" y="5633750"/>
            <a:ext cx="3223408" cy="3357717"/>
          </a:xfrm>
          <a:custGeom>
            <a:avLst/>
            <a:gdLst/>
            <a:ahLst/>
            <a:cxnLst/>
            <a:rect l="l" t="t" r="r" b="b"/>
            <a:pathLst>
              <a:path w="3223408" h="3357717">
                <a:moveTo>
                  <a:pt x="0" y="0"/>
                </a:moveTo>
                <a:lnTo>
                  <a:pt x="3223408" y="0"/>
                </a:lnTo>
                <a:lnTo>
                  <a:pt x="3223408" y="3357717"/>
                </a:lnTo>
                <a:lnTo>
                  <a:pt x="0" y="335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07311" y="2688295"/>
            <a:ext cx="10873379" cy="2867021"/>
            <a:chOff x="0" y="0"/>
            <a:chExt cx="2863771" cy="755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3771" cy="755100"/>
            </a:xfrm>
            <a:custGeom>
              <a:avLst/>
              <a:gdLst/>
              <a:ahLst/>
              <a:cxnLst/>
              <a:rect l="l" t="t" r="r" b="b"/>
              <a:pathLst>
                <a:path w="2863771" h="755100">
                  <a:moveTo>
                    <a:pt x="36312" y="0"/>
                  </a:moveTo>
                  <a:lnTo>
                    <a:pt x="2827458" y="0"/>
                  </a:lnTo>
                  <a:cubicBezTo>
                    <a:pt x="2837089" y="0"/>
                    <a:pt x="2846325" y="3826"/>
                    <a:pt x="2853135" y="10636"/>
                  </a:cubicBezTo>
                  <a:cubicBezTo>
                    <a:pt x="2859945" y="17446"/>
                    <a:pt x="2863771" y="26682"/>
                    <a:pt x="2863771" y="36312"/>
                  </a:cubicBezTo>
                  <a:lnTo>
                    <a:pt x="2863771" y="718788"/>
                  </a:lnTo>
                  <a:cubicBezTo>
                    <a:pt x="2863771" y="728418"/>
                    <a:pt x="2859945" y="737655"/>
                    <a:pt x="2853135" y="744464"/>
                  </a:cubicBezTo>
                  <a:cubicBezTo>
                    <a:pt x="2846325" y="751274"/>
                    <a:pt x="2837089" y="755100"/>
                    <a:pt x="2827458" y="755100"/>
                  </a:cubicBezTo>
                  <a:lnTo>
                    <a:pt x="36312" y="755100"/>
                  </a:lnTo>
                  <a:cubicBezTo>
                    <a:pt x="26682" y="755100"/>
                    <a:pt x="17446" y="751274"/>
                    <a:pt x="10636" y="744464"/>
                  </a:cubicBezTo>
                  <a:cubicBezTo>
                    <a:pt x="3826" y="737655"/>
                    <a:pt x="0" y="728418"/>
                    <a:pt x="0" y="718788"/>
                  </a:cubicBezTo>
                  <a:lnTo>
                    <a:pt x="0" y="36312"/>
                  </a:lnTo>
                  <a:cubicBezTo>
                    <a:pt x="0" y="26682"/>
                    <a:pt x="3826" y="17446"/>
                    <a:pt x="10636" y="10636"/>
                  </a:cubicBezTo>
                  <a:cubicBezTo>
                    <a:pt x="17446" y="3826"/>
                    <a:pt x="26682" y="0"/>
                    <a:pt x="3631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63771" cy="80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38166" y="4573360"/>
            <a:ext cx="3038852" cy="4480880"/>
          </a:xfrm>
          <a:custGeom>
            <a:avLst/>
            <a:gdLst/>
            <a:ahLst/>
            <a:cxnLst/>
            <a:rect l="l" t="t" r="r" b="b"/>
            <a:pathLst>
              <a:path w="3038852" h="4480880">
                <a:moveTo>
                  <a:pt x="0" y="0"/>
                </a:moveTo>
                <a:lnTo>
                  <a:pt x="3038852" y="0"/>
                </a:lnTo>
                <a:lnTo>
                  <a:pt x="3038852" y="4480881"/>
                </a:lnTo>
                <a:lnTo>
                  <a:pt x="0" y="448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1171390">
            <a:off x="2138805" y="7166399"/>
            <a:ext cx="2477511" cy="2135164"/>
          </a:xfrm>
          <a:custGeom>
            <a:avLst/>
            <a:gdLst/>
            <a:ahLst/>
            <a:cxnLst/>
            <a:rect l="l" t="t" r="r" b="b"/>
            <a:pathLst>
              <a:path w="2477511" h="2135164">
                <a:moveTo>
                  <a:pt x="0" y="0"/>
                </a:moveTo>
                <a:lnTo>
                  <a:pt x="2477512" y="0"/>
                </a:lnTo>
                <a:lnTo>
                  <a:pt x="2477512" y="2135164"/>
                </a:lnTo>
                <a:lnTo>
                  <a:pt x="0" y="213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401800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H="1">
            <a:off x="-337782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167527" y="1556955"/>
            <a:ext cx="7952946" cy="113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82"/>
              </a:lnSpc>
            </a:pPr>
            <a:r>
              <a:rPr lang="en-US" sz="7703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How It Works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23278" y="3369880"/>
            <a:ext cx="9245226" cy="2267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Store and organize cinema data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Update seats automatically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Calculate income and taxes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Manage employees and schedules</a:t>
            </a:r>
          </a:p>
          <a:p>
            <a:pPr algn="just">
              <a:lnSpc>
                <a:spcPts val="3648"/>
              </a:lnSpc>
            </a:pPr>
            <a:endParaRPr lang="en-US" sz="2605">
              <a:solidFill>
                <a:srgbClr val="1B4279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3707311" y="5887892"/>
            <a:ext cx="10873379" cy="2867021"/>
            <a:chOff x="0" y="0"/>
            <a:chExt cx="2863771" cy="755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63771" cy="755100"/>
            </a:xfrm>
            <a:custGeom>
              <a:avLst/>
              <a:gdLst/>
              <a:ahLst/>
              <a:cxnLst/>
              <a:rect l="l" t="t" r="r" b="b"/>
              <a:pathLst>
                <a:path w="2863771" h="755100">
                  <a:moveTo>
                    <a:pt x="36312" y="0"/>
                  </a:moveTo>
                  <a:lnTo>
                    <a:pt x="2827458" y="0"/>
                  </a:lnTo>
                  <a:cubicBezTo>
                    <a:pt x="2837089" y="0"/>
                    <a:pt x="2846325" y="3826"/>
                    <a:pt x="2853135" y="10636"/>
                  </a:cubicBezTo>
                  <a:cubicBezTo>
                    <a:pt x="2859945" y="17446"/>
                    <a:pt x="2863771" y="26682"/>
                    <a:pt x="2863771" y="36312"/>
                  </a:cubicBezTo>
                  <a:lnTo>
                    <a:pt x="2863771" y="718788"/>
                  </a:lnTo>
                  <a:cubicBezTo>
                    <a:pt x="2863771" y="728418"/>
                    <a:pt x="2859945" y="737655"/>
                    <a:pt x="2853135" y="744464"/>
                  </a:cubicBezTo>
                  <a:cubicBezTo>
                    <a:pt x="2846325" y="751274"/>
                    <a:pt x="2837089" y="755100"/>
                    <a:pt x="2827458" y="755100"/>
                  </a:cubicBezTo>
                  <a:lnTo>
                    <a:pt x="36312" y="755100"/>
                  </a:lnTo>
                  <a:cubicBezTo>
                    <a:pt x="26682" y="755100"/>
                    <a:pt x="17446" y="751274"/>
                    <a:pt x="10636" y="744464"/>
                  </a:cubicBezTo>
                  <a:cubicBezTo>
                    <a:pt x="3826" y="737655"/>
                    <a:pt x="0" y="728418"/>
                    <a:pt x="0" y="718788"/>
                  </a:cubicBezTo>
                  <a:lnTo>
                    <a:pt x="0" y="36312"/>
                  </a:lnTo>
                  <a:cubicBezTo>
                    <a:pt x="0" y="26682"/>
                    <a:pt x="3826" y="17446"/>
                    <a:pt x="10636" y="10636"/>
                  </a:cubicBezTo>
                  <a:cubicBezTo>
                    <a:pt x="17446" y="3826"/>
                    <a:pt x="26682" y="0"/>
                    <a:pt x="3631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863771" cy="80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21387" y="6392324"/>
            <a:ext cx="9245226" cy="272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Browse movies and schedules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Select hall and seat type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Book tickets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Add extra services</a:t>
            </a:r>
          </a:p>
          <a:p>
            <a:pPr marL="562625" lvl="1" indent="-281312" algn="just">
              <a:lnSpc>
                <a:spcPts val="3648"/>
              </a:lnSpc>
              <a:buFont typeface="Arial"/>
              <a:buChar char="•"/>
            </a:pPr>
            <a:r>
              <a:rPr lang="en-US" sz="26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Confirm payment</a:t>
            </a:r>
          </a:p>
          <a:p>
            <a:pPr algn="just">
              <a:lnSpc>
                <a:spcPts val="3648"/>
              </a:lnSpc>
            </a:pPr>
            <a:endParaRPr lang="en-US" sz="2605">
              <a:solidFill>
                <a:srgbClr val="1B4279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18" name="Freeform 18"/>
          <p:cNvSpPr/>
          <p:nvPr/>
        </p:nvSpPr>
        <p:spPr>
          <a:xfrm rot="-844885">
            <a:off x="14028541" y="5633750"/>
            <a:ext cx="3223408" cy="3357717"/>
          </a:xfrm>
          <a:custGeom>
            <a:avLst/>
            <a:gdLst/>
            <a:ahLst/>
            <a:cxnLst/>
            <a:rect l="l" t="t" r="r" b="b"/>
            <a:pathLst>
              <a:path w="3223408" h="3357717">
                <a:moveTo>
                  <a:pt x="0" y="0"/>
                </a:moveTo>
                <a:lnTo>
                  <a:pt x="3223408" y="0"/>
                </a:lnTo>
                <a:lnTo>
                  <a:pt x="3223408" y="3357717"/>
                </a:lnTo>
                <a:lnTo>
                  <a:pt x="0" y="335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4003648" y="2767225"/>
            <a:ext cx="3315235" cy="123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5"/>
              </a:lnSpc>
            </a:pPr>
            <a:r>
              <a:rPr lang="en-US" sz="3546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 System Side</a:t>
            </a:r>
          </a:p>
          <a:p>
            <a:pPr algn="ctr">
              <a:lnSpc>
                <a:spcPts val="4965"/>
              </a:lnSpc>
            </a:pPr>
            <a:endParaRPr lang="en-US" sz="3546" b="1">
              <a:solidFill>
                <a:srgbClr val="1B4279"/>
              </a:solidFill>
              <a:latin typeface="Rosario Bold"/>
              <a:ea typeface="Rosario Bold"/>
              <a:cs typeface="Rosario Bold"/>
              <a:sym typeface="Rosari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003648" y="5821217"/>
            <a:ext cx="3315235" cy="60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5"/>
              </a:lnSpc>
            </a:pPr>
            <a:r>
              <a:rPr lang="en-US" sz="3546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User Side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77018" y="2688295"/>
            <a:ext cx="5137480" cy="6173129"/>
            <a:chOff x="0" y="0"/>
            <a:chExt cx="1353081" cy="16258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3081" cy="1625845"/>
            </a:xfrm>
            <a:custGeom>
              <a:avLst/>
              <a:gdLst/>
              <a:ahLst/>
              <a:cxnLst/>
              <a:rect l="l" t="t" r="r" b="b"/>
              <a:pathLst>
                <a:path w="1353081" h="1625845">
                  <a:moveTo>
                    <a:pt x="76854" y="0"/>
                  </a:moveTo>
                  <a:lnTo>
                    <a:pt x="1276227" y="0"/>
                  </a:lnTo>
                  <a:cubicBezTo>
                    <a:pt x="1318672" y="0"/>
                    <a:pt x="1353081" y="34409"/>
                    <a:pt x="1353081" y="76854"/>
                  </a:cubicBezTo>
                  <a:lnTo>
                    <a:pt x="1353081" y="1548990"/>
                  </a:lnTo>
                  <a:cubicBezTo>
                    <a:pt x="1353081" y="1591436"/>
                    <a:pt x="1318672" y="1625845"/>
                    <a:pt x="1276227" y="1625845"/>
                  </a:cubicBezTo>
                  <a:lnTo>
                    <a:pt x="76854" y="1625845"/>
                  </a:lnTo>
                  <a:cubicBezTo>
                    <a:pt x="56471" y="1625845"/>
                    <a:pt x="36923" y="1617747"/>
                    <a:pt x="22510" y="1603334"/>
                  </a:cubicBezTo>
                  <a:cubicBezTo>
                    <a:pt x="8097" y="1588921"/>
                    <a:pt x="0" y="1569373"/>
                    <a:pt x="0" y="1548990"/>
                  </a:cubicBezTo>
                  <a:lnTo>
                    <a:pt x="0" y="76854"/>
                  </a:lnTo>
                  <a:cubicBezTo>
                    <a:pt x="0" y="34409"/>
                    <a:pt x="34409" y="0"/>
                    <a:pt x="768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53081" cy="167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738166" y="4573360"/>
            <a:ext cx="3038852" cy="4480880"/>
          </a:xfrm>
          <a:custGeom>
            <a:avLst/>
            <a:gdLst/>
            <a:ahLst/>
            <a:cxnLst/>
            <a:rect l="l" t="t" r="r" b="b"/>
            <a:pathLst>
              <a:path w="3038852" h="4480880">
                <a:moveTo>
                  <a:pt x="0" y="0"/>
                </a:moveTo>
                <a:lnTo>
                  <a:pt x="3038852" y="0"/>
                </a:lnTo>
                <a:lnTo>
                  <a:pt x="3038852" y="4480881"/>
                </a:lnTo>
                <a:lnTo>
                  <a:pt x="0" y="44808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1171390">
            <a:off x="2138805" y="7166399"/>
            <a:ext cx="2477511" cy="2135164"/>
          </a:xfrm>
          <a:custGeom>
            <a:avLst/>
            <a:gdLst/>
            <a:ahLst/>
            <a:cxnLst/>
            <a:rect l="l" t="t" r="r" b="b"/>
            <a:pathLst>
              <a:path w="2477511" h="2135164">
                <a:moveTo>
                  <a:pt x="0" y="0"/>
                </a:moveTo>
                <a:lnTo>
                  <a:pt x="2477512" y="0"/>
                </a:lnTo>
                <a:lnTo>
                  <a:pt x="2477512" y="2135164"/>
                </a:lnTo>
                <a:lnTo>
                  <a:pt x="0" y="213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4401800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 flipH="1">
            <a:off x="-337782" y="-53854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167527" y="1547430"/>
            <a:ext cx="7952946" cy="984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2"/>
              </a:lnSpc>
            </a:pPr>
            <a:r>
              <a:rPr lang="en-US" sz="6703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Why Our System 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62893" y="3981354"/>
            <a:ext cx="4365729" cy="440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✔ Hall &amp; Seat Management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VIP and Regular Seat System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Movie Scheduling &amp; Categories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Daily Income and Tax Calculation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Employee &amp; Salary Management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VR and Screen Type Support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Kids Area &amp; Restaurant Management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Smart and User-Friendly Interface</a:t>
            </a:r>
          </a:p>
          <a:p>
            <a:pPr algn="ctr">
              <a:lnSpc>
                <a:spcPts val="3648"/>
              </a:lnSpc>
            </a:pPr>
            <a:endParaRPr lang="en-US" sz="2205">
              <a:solidFill>
                <a:srgbClr val="1B4279"/>
              </a:solidFill>
              <a:latin typeface="Rosario"/>
              <a:ea typeface="Rosario"/>
              <a:cs typeface="Rosario"/>
              <a:sym typeface="Rosario"/>
            </a:endParaRPr>
          </a:p>
          <a:p>
            <a:pPr algn="ctr">
              <a:lnSpc>
                <a:spcPts val="3648"/>
              </a:lnSpc>
            </a:pPr>
            <a:endParaRPr lang="en-US" sz="2205">
              <a:solidFill>
                <a:srgbClr val="1B4279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144000" y="2688295"/>
            <a:ext cx="5137480" cy="6173129"/>
            <a:chOff x="0" y="0"/>
            <a:chExt cx="1353081" cy="16258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53081" cy="1625845"/>
            </a:xfrm>
            <a:custGeom>
              <a:avLst/>
              <a:gdLst/>
              <a:ahLst/>
              <a:cxnLst/>
              <a:rect l="l" t="t" r="r" b="b"/>
              <a:pathLst>
                <a:path w="1353081" h="1625845">
                  <a:moveTo>
                    <a:pt x="76854" y="0"/>
                  </a:moveTo>
                  <a:lnTo>
                    <a:pt x="1276227" y="0"/>
                  </a:lnTo>
                  <a:cubicBezTo>
                    <a:pt x="1318672" y="0"/>
                    <a:pt x="1353081" y="34409"/>
                    <a:pt x="1353081" y="76854"/>
                  </a:cubicBezTo>
                  <a:lnTo>
                    <a:pt x="1353081" y="1548990"/>
                  </a:lnTo>
                  <a:cubicBezTo>
                    <a:pt x="1353081" y="1591436"/>
                    <a:pt x="1318672" y="1625845"/>
                    <a:pt x="1276227" y="1625845"/>
                  </a:cubicBezTo>
                  <a:lnTo>
                    <a:pt x="76854" y="1625845"/>
                  </a:lnTo>
                  <a:cubicBezTo>
                    <a:pt x="56471" y="1625845"/>
                    <a:pt x="36923" y="1617747"/>
                    <a:pt x="22510" y="1603334"/>
                  </a:cubicBezTo>
                  <a:cubicBezTo>
                    <a:pt x="8097" y="1588921"/>
                    <a:pt x="0" y="1569373"/>
                    <a:pt x="0" y="1548990"/>
                  </a:cubicBezTo>
                  <a:lnTo>
                    <a:pt x="0" y="76854"/>
                  </a:lnTo>
                  <a:cubicBezTo>
                    <a:pt x="0" y="34409"/>
                    <a:pt x="34409" y="0"/>
                    <a:pt x="768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53081" cy="1673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529876" y="4020345"/>
            <a:ext cx="4365729" cy="3887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✔ Easy hall and movie management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Faster booking process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Accurate income and tax calculations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Better customer experience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Organized employee management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Entertainment services for families and kids</a:t>
            </a:r>
          </a:p>
          <a:p>
            <a:pPr algn="ctr">
              <a:lnSpc>
                <a:spcPts val="3088"/>
              </a:lnSpc>
            </a:pPr>
            <a:r>
              <a:rPr lang="en-US" sz="2205">
                <a:solidFill>
                  <a:srgbClr val="1B4279"/>
                </a:solidFill>
                <a:latin typeface="Rosario"/>
                <a:ea typeface="Rosario"/>
                <a:cs typeface="Rosario"/>
                <a:sym typeface="Rosario"/>
              </a:rPr>
              <a:t> ✔ Smooth and user-friendly 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00065" y="3070400"/>
            <a:ext cx="3315235" cy="770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5"/>
              </a:lnSpc>
            </a:pPr>
            <a:r>
              <a:rPr lang="en-US" sz="4546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Key 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48927" y="3131527"/>
            <a:ext cx="4346677" cy="70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4204" b="1">
                <a:solidFill>
                  <a:srgbClr val="1B4279"/>
                </a:solidFill>
                <a:latin typeface="Rosario Bold"/>
                <a:ea typeface="Rosario Bold"/>
                <a:cs typeface="Rosario Bold"/>
                <a:sym typeface="Rosario Bold"/>
              </a:rPr>
              <a:t>Benefits for Users</a:t>
            </a:r>
          </a:p>
        </p:txBody>
      </p:sp>
      <p:sp>
        <p:nvSpPr>
          <p:cNvPr id="20" name="Freeform 20"/>
          <p:cNvSpPr/>
          <p:nvPr/>
        </p:nvSpPr>
        <p:spPr>
          <a:xfrm rot="-844885">
            <a:off x="14028541" y="5633750"/>
            <a:ext cx="3223408" cy="3357717"/>
          </a:xfrm>
          <a:custGeom>
            <a:avLst/>
            <a:gdLst/>
            <a:ahLst/>
            <a:cxnLst/>
            <a:rect l="l" t="t" r="r" b="b"/>
            <a:pathLst>
              <a:path w="3223408" h="3357717">
                <a:moveTo>
                  <a:pt x="0" y="0"/>
                </a:moveTo>
                <a:lnTo>
                  <a:pt x="3223408" y="0"/>
                </a:lnTo>
                <a:lnTo>
                  <a:pt x="3223408" y="3357717"/>
                </a:lnTo>
                <a:lnTo>
                  <a:pt x="0" y="3357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7290">
            <a:off x="-1567890" y="-684103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0" y="0"/>
                </a:moveTo>
                <a:lnTo>
                  <a:pt x="5157429" y="0"/>
                </a:lnTo>
                <a:lnTo>
                  <a:pt x="5157429" y="5827603"/>
                </a:lnTo>
                <a:lnTo>
                  <a:pt x="0" y="582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4065">
            <a:off x="725825" y="4503212"/>
            <a:ext cx="2910405" cy="4601430"/>
          </a:xfrm>
          <a:custGeom>
            <a:avLst/>
            <a:gdLst/>
            <a:ahLst/>
            <a:cxnLst/>
            <a:rect l="l" t="t" r="r" b="b"/>
            <a:pathLst>
              <a:path w="2910405" h="4601430">
                <a:moveTo>
                  <a:pt x="0" y="0"/>
                </a:moveTo>
                <a:lnTo>
                  <a:pt x="2910405" y="0"/>
                </a:lnTo>
                <a:lnTo>
                  <a:pt x="2910405" y="4601430"/>
                </a:lnTo>
                <a:lnTo>
                  <a:pt x="0" y="460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862901" y="4287613"/>
            <a:ext cx="5930321" cy="4970687"/>
          </a:xfrm>
          <a:custGeom>
            <a:avLst/>
            <a:gdLst/>
            <a:ahLst/>
            <a:cxnLst/>
            <a:rect l="l" t="t" r="r" b="b"/>
            <a:pathLst>
              <a:path w="5930321" h="4970687">
                <a:moveTo>
                  <a:pt x="0" y="0"/>
                </a:moveTo>
                <a:lnTo>
                  <a:pt x="5930322" y="0"/>
                </a:lnTo>
                <a:lnTo>
                  <a:pt x="5930322" y="4970687"/>
                </a:lnTo>
                <a:lnTo>
                  <a:pt x="0" y="4970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1696389" flipH="1">
            <a:off x="14562941" y="-676248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5157428" y="0"/>
                </a:moveTo>
                <a:lnTo>
                  <a:pt x="0" y="0"/>
                </a:lnTo>
                <a:lnTo>
                  <a:pt x="0" y="5827603"/>
                </a:lnTo>
                <a:lnTo>
                  <a:pt x="5157428" y="5827603"/>
                </a:lnTo>
                <a:lnTo>
                  <a:pt x="515742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1171390">
            <a:off x="2871744" y="7423072"/>
            <a:ext cx="2129484" cy="1835228"/>
          </a:xfrm>
          <a:custGeom>
            <a:avLst/>
            <a:gdLst/>
            <a:ahLst/>
            <a:cxnLst/>
            <a:rect l="l" t="t" r="r" b="b"/>
            <a:pathLst>
              <a:path w="2129484" h="1835228">
                <a:moveTo>
                  <a:pt x="0" y="0"/>
                </a:moveTo>
                <a:lnTo>
                  <a:pt x="2129484" y="0"/>
                </a:lnTo>
                <a:lnTo>
                  <a:pt x="2129484" y="1835228"/>
                </a:lnTo>
                <a:lnTo>
                  <a:pt x="0" y="1835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3510648" y="3040445"/>
            <a:ext cx="9553900" cy="299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3"/>
              </a:lnSpc>
            </a:pPr>
            <a:r>
              <a:rPr lang="en-US" sz="20503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Q &amp; 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87598" y="6072836"/>
            <a:ext cx="4905926" cy="154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2"/>
              </a:lnSpc>
            </a:pPr>
            <a:r>
              <a:rPr lang="en-US" sz="10528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Session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27290">
            <a:off x="-1567890" y="-684103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0" y="0"/>
                </a:moveTo>
                <a:lnTo>
                  <a:pt x="5157429" y="0"/>
                </a:lnTo>
                <a:lnTo>
                  <a:pt x="5157429" y="5827603"/>
                </a:lnTo>
                <a:lnTo>
                  <a:pt x="0" y="582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544065">
            <a:off x="725825" y="4503212"/>
            <a:ext cx="2910405" cy="4601430"/>
          </a:xfrm>
          <a:custGeom>
            <a:avLst/>
            <a:gdLst/>
            <a:ahLst/>
            <a:cxnLst/>
            <a:rect l="l" t="t" r="r" b="b"/>
            <a:pathLst>
              <a:path w="2910405" h="4601430">
                <a:moveTo>
                  <a:pt x="0" y="0"/>
                </a:moveTo>
                <a:lnTo>
                  <a:pt x="2910405" y="0"/>
                </a:lnTo>
                <a:lnTo>
                  <a:pt x="2910405" y="4601430"/>
                </a:lnTo>
                <a:lnTo>
                  <a:pt x="0" y="460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3862901" y="4287613"/>
            <a:ext cx="5930321" cy="4970687"/>
          </a:xfrm>
          <a:custGeom>
            <a:avLst/>
            <a:gdLst/>
            <a:ahLst/>
            <a:cxnLst/>
            <a:rect l="l" t="t" r="r" b="b"/>
            <a:pathLst>
              <a:path w="5930321" h="4970687">
                <a:moveTo>
                  <a:pt x="0" y="0"/>
                </a:moveTo>
                <a:lnTo>
                  <a:pt x="5930322" y="0"/>
                </a:lnTo>
                <a:lnTo>
                  <a:pt x="5930322" y="4970687"/>
                </a:lnTo>
                <a:lnTo>
                  <a:pt x="0" y="4970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1696389" flipH="1">
            <a:off x="14562941" y="-676248"/>
            <a:ext cx="5157429" cy="5827603"/>
          </a:xfrm>
          <a:custGeom>
            <a:avLst/>
            <a:gdLst/>
            <a:ahLst/>
            <a:cxnLst/>
            <a:rect l="l" t="t" r="r" b="b"/>
            <a:pathLst>
              <a:path w="5157429" h="5827603">
                <a:moveTo>
                  <a:pt x="5157428" y="0"/>
                </a:moveTo>
                <a:lnTo>
                  <a:pt x="0" y="0"/>
                </a:lnTo>
                <a:lnTo>
                  <a:pt x="0" y="5827603"/>
                </a:lnTo>
                <a:lnTo>
                  <a:pt x="5157428" y="5827603"/>
                </a:lnTo>
                <a:lnTo>
                  <a:pt x="515742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 rot="1171390">
            <a:off x="2871744" y="7423072"/>
            <a:ext cx="2129484" cy="1835228"/>
          </a:xfrm>
          <a:custGeom>
            <a:avLst/>
            <a:gdLst/>
            <a:ahLst/>
            <a:cxnLst/>
            <a:rect l="l" t="t" r="r" b="b"/>
            <a:pathLst>
              <a:path w="2129484" h="1835228">
                <a:moveTo>
                  <a:pt x="0" y="0"/>
                </a:moveTo>
                <a:lnTo>
                  <a:pt x="2129484" y="0"/>
                </a:lnTo>
                <a:lnTo>
                  <a:pt x="2129484" y="1835228"/>
                </a:lnTo>
                <a:lnTo>
                  <a:pt x="0" y="1835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-18288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4864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2801600" y="9434146"/>
            <a:ext cx="7315200" cy="1705708"/>
          </a:xfrm>
          <a:custGeom>
            <a:avLst/>
            <a:gdLst/>
            <a:ahLst/>
            <a:cxnLst/>
            <a:rect l="l" t="t" r="r" b="b"/>
            <a:pathLst>
              <a:path w="7315200" h="1705708">
                <a:moveTo>
                  <a:pt x="0" y="0"/>
                </a:moveTo>
                <a:lnTo>
                  <a:pt x="7315200" y="0"/>
                </a:lnTo>
                <a:lnTo>
                  <a:pt x="7315200" y="1705708"/>
                </a:lnTo>
                <a:lnTo>
                  <a:pt x="0" y="1705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4425099" y="4287543"/>
            <a:ext cx="9437803" cy="1778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57"/>
              </a:lnSpc>
            </a:pPr>
            <a:r>
              <a:rPr lang="en-US" sz="12155">
                <a:solidFill>
                  <a:srgbClr val="FFFFFF"/>
                </a:solidFill>
                <a:latin typeface="Amoresa"/>
                <a:ea typeface="Amoresa"/>
                <a:cs typeface="Amoresa"/>
                <a:sym typeface="Amoresa"/>
              </a:rPr>
              <a:t>Thank You!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361</Words>
  <Application>Microsoft Office PowerPoint</Application>
  <PresentationFormat>Custom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Moontime</vt:lpstr>
      <vt:lpstr>Arial</vt:lpstr>
      <vt:lpstr>Amoresa</vt:lpstr>
      <vt:lpstr>Rosario Bold</vt:lpstr>
      <vt:lpstr>Calibri</vt:lpstr>
      <vt:lpstr>Rosario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</dc:title>
  <dc:creator>Shimaa</dc:creator>
  <cp:lastModifiedBy>shimaa shimaa</cp:lastModifiedBy>
  <cp:revision>2</cp:revision>
  <dcterms:created xsi:type="dcterms:W3CDTF">2006-08-16T00:00:00Z</dcterms:created>
  <dcterms:modified xsi:type="dcterms:W3CDTF">2026-05-16T18:11:56Z</dcterms:modified>
  <dc:identifier>DAHJ2faMaho</dc:identifier>
</cp:coreProperties>
</file>